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2" r:id="rId5"/>
    <p:sldId id="359" r:id="rId6"/>
    <p:sldId id="373" r:id="rId7"/>
    <p:sldId id="374" r:id="rId8"/>
    <p:sldId id="375" r:id="rId9"/>
    <p:sldId id="365" r:id="rId10"/>
    <p:sldId id="376" r:id="rId11"/>
    <p:sldId id="377" r:id="rId12"/>
    <p:sldId id="3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C04907-8645-46E5-7854-5A43D534676C}" v="1249" dt="2025-07-11T01:38:36.625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3" autoAdjust="0"/>
    <p:restoredTop sz="95388" autoAdjust="0"/>
  </p:normalViewPr>
  <p:slideViewPr>
    <p:cSldViewPr snapToGrid="0" snapToObjects="1" showGuides="1">
      <p:cViewPr>
        <p:scale>
          <a:sx n="100" d="100"/>
          <a:sy n="100" d="100"/>
        </p:scale>
        <p:origin x="58" y="-4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7/10/2025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humanisticsystems.com/2023/10/18/why-is-it-just-so-difficult-barriers-to-just-culture-in-the-real-world/" TargetMode="External"/><Relationship Id="rId4" Type="http://schemas.openxmlformats.org/officeDocument/2006/relationships/hyperlink" Target="https://www.ochsnerjournal.org/content/13/3/4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sz="4000" dirty="0">
                <a:cs typeface="Biome"/>
              </a:rPr>
              <a:t>Establishing a just, learning culture barrier to implementing a just culture</a:t>
            </a:r>
            <a:endParaRPr lang="en-US" sz="4000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Biome Light"/>
              </a:rPr>
              <a:t>Carmen Mendoza </a:t>
            </a:r>
          </a:p>
          <a:p>
            <a:r>
              <a:rPr lang="en-US" dirty="0">
                <a:cs typeface="Biome Light"/>
              </a:rPr>
              <a:t>Csd 380</a:t>
            </a:r>
          </a:p>
          <a:p>
            <a:r>
              <a:rPr lang="en-US" dirty="0">
                <a:cs typeface="Biome Light"/>
              </a:rPr>
              <a:t>Module 9.2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anchor="b">
            <a:normAutofit/>
          </a:bodyPr>
          <a:lstStyle/>
          <a:p>
            <a:r>
              <a:rPr lang="en-US"/>
              <a:t>What is a just culture?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i="1" dirty="0">
                <a:ea typeface="+mn-lt"/>
                <a:cs typeface="+mn-lt"/>
              </a:rPr>
              <a:t>just culture</a:t>
            </a:r>
            <a:r>
              <a:rPr lang="en-US" dirty="0">
                <a:ea typeface="+mn-lt"/>
                <a:cs typeface="+mn-lt"/>
              </a:rPr>
              <a:t> is a workplace environment where people feel safe to report mistakes or problems without being unfairly blamed.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focus is on learning and improving systems, not punishing individuals.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helps build trust and supports continuous improvement, especially in high-risk fields like healthcare.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2065ABEB-57AD-84C7-AAFA-844084E4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anchor="b">
            <a:normAutofit/>
          </a:bodyPr>
          <a:lstStyle/>
          <a:p>
            <a:r>
              <a:rPr lang="en-US" dirty="0">
                <a:cs typeface="Biome"/>
              </a:rPr>
              <a:t>Why is it hard to implement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Even though just culture sounds great, there are a lot of challenges, like: </a:t>
            </a:r>
          </a:p>
          <a:p>
            <a:r>
              <a:rPr lang="en-US" dirty="0"/>
              <a:t>People's natural reaction to blame others </a:t>
            </a:r>
          </a:p>
          <a:p>
            <a:r>
              <a:rPr lang="en-US" dirty="0"/>
              <a:t>Company policies that punish mistakes </a:t>
            </a:r>
          </a:p>
          <a:p>
            <a:r>
              <a:rPr lang="en-US" dirty="0"/>
              <a:t>Fear of legal consequences </a:t>
            </a:r>
          </a:p>
          <a:p>
            <a:r>
              <a:rPr lang="en-US" dirty="0"/>
              <a:t>Leaders not supporting the idea </a:t>
            </a:r>
          </a:p>
          <a:p>
            <a:r>
              <a:rPr lang="en-US" dirty="0"/>
              <a:t>Pressure from outside groups such as regulators or media 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en-US" dirty="0">
                <a:cs typeface="Biome"/>
              </a:rPr>
              <a:t>Human and psychological challenges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93302" y="2508671"/>
            <a:ext cx="3774587" cy="37237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cs typeface="Biome"/>
              </a:rPr>
              <a:t> Blame bias: We tend to blame people for mistakes instead of looking at the bigger system. </a:t>
            </a:r>
          </a:p>
          <a:p>
            <a:pPr marL="285750" indent="-285750">
              <a:buClr>
                <a:srgbClr val="1CDFF5"/>
              </a:buClr>
              <a:buFont typeface="Arial"/>
              <a:buChar char="•"/>
            </a:pPr>
            <a:r>
              <a:rPr lang="en-US" sz="1600" dirty="0">
                <a:cs typeface="Biome"/>
              </a:rPr>
              <a:t>Fear and shame: Employees might be afraid to admit mistakes because they don't want to get in trouble or look bad. </a:t>
            </a:r>
          </a:p>
          <a:p>
            <a:pPr marL="285750" indent="-285750">
              <a:buClr>
                <a:srgbClr val="1CDFF5"/>
              </a:buClr>
              <a:buFont typeface="Arial"/>
              <a:buChar char="•"/>
            </a:pPr>
            <a:r>
              <a:rPr lang="en-US" sz="1600" dirty="0">
                <a:cs typeface="Biome"/>
              </a:rPr>
              <a:t>Outcome bias: If something goes wrong, we focus too much on the result instead of how it happened. </a:t>
            </a:r>
          </a:p>
          <a:p>
            <a:pPr marL="285750" indent="-285750">
              <a:buClr>
                <a:srgbClr val="1CDFF5"/>
              </a:buClr>
              <a:buFont typeface="Arial"/>
              <a:buChar char="•"/>
            </a:pPr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rcRect t="18500" r="1" b="30789"/>
          <a:stretch>
            <a:fillRect/>
          </a:stretch>
        </p:blipFill>
        <p:spPr>
          <a:xfrm>
            <a:off x="4927600" y="2465539"/>
            <a:ext cx="6315069" cy="3723753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 anchor="b">
            <a:normAutofit/>
          </a:bodyPr>
          <a:lstStyle/>
          <a:p>
            <a:r>
              <a:rPr lang="en-US"/>
              <a:t>Organizational barriers</a:t>
            </a:r>
            <a:endParaRPr lang="en-US" dirty="0"/>
          </a:p>
        </p:txBody>
      </p:sp>
      <p:pic>
        <p:nvPicPr>
          <p:cNvPr id="5" name="Picture Placeholder 4" descr="A group of people sitting around a table with laptops and tablets&#10;&#10;AI-generated content may be incorrect.">
            <a:extLst>
              <a:ext uri="{FF2B5EF4-FFF2-40B4-BE49-F238E27FC236}">
                <a16:creationId xmlns:a16="http://schemas.microsoft.com/office/drawing/2014/main" id="{8C0BFF38-5A35-4899-7661-B9EDE267B712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3"/>
          <a:srcRect l="21379" r="21379"/>
          <a:stretch/>
        </p:blipFill>
        <p:spPr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Inconsistent rules: Sometimes managers react differently to the same mistake, which feels unfair </a:t>
            </a:r>
          </a:p>
          <a:p>
            <a:pPr>
              <a:lnSpc>
                <a:spcPct val="110000"/>
              </a:lnSpc>
            </a:pPr>
            <a:r>
              <a:rPr lang="en-US" sz="1500"/>
              <a:t>Lack of clear policies: If employees don't understand how errors are handled, they won't feel safe reporting them. </a:t>
            </a:r>
          </a:p>
          <a:p>
            <a:pPr>
              <a:lnSpc>
                <a:spcPct val="110000"/>
              </a:lnSpc>
            </a:pPr>
            <a:r>
              <a:rPr lang="en-US" sz="1500"/>
              <a:t>Unrealistic expectations: Workers may feel pressured to be perfect, even though mistakes are part of being human.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anchor="b">
            <a:normAutofit/>
          </a:bodyPr>
          <a:lstStyle/>
          <a:p>
            <a:r>
              <a:rPr lang="en-US"/>
              <a:t>External Pressures</a:t>
            </a:r>
            <a:endParaRPr lang="en-US" dirty="0"/>
          </a:p>
        </p:txBody>
      </p:sp>
      <p:pic>
        <p:nvPicPr>
          <p:cNvPr id="2" name="Content Placeholder 1" descr="A person with his hands on his head surrounded by many sticky notes&#10;&#10;AI-generated content may be incorrect.">
            <a:extLst>
              <a:ext uri="{FF2B5EF4-FFF2-40B4-BE49-F238E27FC236}">
                <a16:creationId xmlns:a16="http://schemas.microsoft.com/office/drawing/2014/main" id="{39851F10-3D93-7EBB-5A8B-9A214A488A32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3"/>
          <a:srcRect l="6945" r="17331" b="1"/>
          <a:stretch>
            <a:fillRect/>
          </a:stretch>
        </p:blipFill>
        <p:spPr>
          <a:xfrm>
            <a:off x="2373002" y="2474811"/>
            <a:ext cx="4015098" cy="3528397"/>
          </a:xfrm>
          <a:prstGeom prst="rect">
            <a:avLst/>
          </a:prstGeom>
          <a:noFill/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Legal risks: People worry that admitting a mistake could lead to lawsuits or losing their license.  </a:t>
            </a:r>
          </a:p>
          <a:p>
            <a:r>
              <a:rPr lang="en-US" dirty="0"/>
              <a:t>Regulations: Some rules focus more on punishment than learning. </a:t>
            </a:r>
          </a:p>
          <a:p>
            <a:r>
              <a:rPr lang="en-US" dirty="0"/>
              <a:t>Media: Bad outcomes often lead to public blame, making leaders less willing to support just culture. 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9FC90561-D9AD-E39C-57A3-3F0CD9E3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anchor="b">
            <a:normAutofit/>
          </a:bodyPr>
          <a:lstStyle/>
          <a:p>
            <a:r>
              <a:rPr lang="en-US"/>
              <a:t>Leadership and culture issues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Char char="•"/>
            </a:pPr>
            <a:r>
              <a:rPr lang="en-US" sz="1700"/>
              <a:t>Lack of support from leaders: If management does not believe in just culture, it won't work. </a:t>
            </a:r>
          </a:p>
          <a:p>
            <a:pPr marL="285750" indent="-285750">
              <a:buChar char="•"/>
            </a:pPr>
            <a:r>
              <a:rPr lang="en-US" sz="1700"/>
              <a:t>Low psychological safety: If employees think speaking up will get them in trouble, they'll start silent. </a:t>
            </a:r>
          </a:p>
          <a:p>
            <a:pPr marL="285750" indent="-285750">
              <a:buChar char="•"/>
            </a:pPr>
            <a:r>
              <a:rPr lang="en-US" sz="1700"/>
              <a:t>Poor communication: when people don't share knowledge or work in silos, it's harder to learn from mistakes.</a:t>
            </a:r>
          </a:p>
        </p:txBody>
      </p:sp>
      <p:pic>
        <p:nvPicPr>
          <p:cNvPr id="6" name="Picture Placeholder 5" descr="A group of people holding hands&#10;&#10;AI-generated content may be incorrect.">
            <a:extLst>
              <a:ext uri="{FF2B5EF4-FFF2-40B4-BE49-F238E27FC236}">
                <a16:creationId xmlns:a16="http://schemas.microsoft.com/office/drawing/2014/main" id="{58D0A710-CB37-2614-352B-C9CB63F0DA89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/>
        </p:blipFill>
        <p:spPr>
          <a:xfrm>
            <a:off x="6995159" y="2832461"/>
            <a:ext cx="4227332" cy="2813097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anchor="b">
            <a:normAutofit/>
          </a:bodyPr>
          <a:lstStyle/>
          <a:p>
            <a:r>
              <a:rPr lang="en-US"/>
              <a:t>What can help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To overcome these barriers, organizations should:  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Make policies clear and fair </a:t>
            </a:r>
          </a:p>
          <a:p>
            <a:pPr marL="285750" indent="-285750">
              <a:buClr>
                <a:srgbClr val="1CDFF5"/>
              </a:buClr>
              <a:buFont typeface="Arial"/>
              <a:buChar char="•"/>
            </a:pPr>
            <a:r>
              <a:rPr lang="en-US" dirty="0"/>
              <a:t>Train leaders and staff on how just culture works </a:t>
            </a:r>
          </a:p>
          <a:p>
            <a:pPr marL="285750" indent="-285750">
              <a:buClr>
                <a:srgbClr val="1CDFF5"/>
              </a:buClr>
              <a:buFont typeface="Arial"/>
              <a:buChar char="•"/>
            </a:pPr>
            <a:r>
              <a:rPr lang="en-US" dirty="0"/>
              <a:t>Encourage open communication </a:t>
            </a:r>
          </a:p>
          <a:p>
            <a:pPr marL="285750" indent="-285750">
              <a:buClr>
                <a:srgbClr val="1CDFF5"/>
              </a:buClr>
              <a:buFont typeface="Arial"/>
              <a:buChar char="•"/>
            </a:pPr>
            <a:r>
              <a:rPr lang="en-US" dirty="0"/>
              <a:t>Support people instead of punishing them </a:t>
            </a:r>
          </a:p>
          <a:p>
            <a:pPr marL="285750" indent="-285750">
              <a:buClr>
                <a:srgbClr val="1CDFF5"/>
              </a:buClr>
              <a:buFont typeface="Arial"/>
              <a:buChar char="•"/>
            </a:pPr>
            <a:r>
              <a:rPr lang="en-US" dirty="0"/>
              <a:t>Be patient </a:t>
            </a:r>
            <a:r>
              <a:rPr lang="en-US"/>
              <a:t>changing</a:t>
            </a:r>
            <a:r>
              <a:rPr lang="en-US" dirty="0"/>
              <a:t> a culture may take time.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pPr lvl="0"/>
            <a:r>
              <a:rPr lang="en-US"/>
              <a:t>References</a:t>
            </a:r>
            <a:endParaRPr lang="en-US" noProof="0" dirty="0"/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102427" y="2465539"/>
            <a:ext cx="3183808" cy="3723753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Char char="•"/>
            </a:pPr>
            <a:r>
              <a:rPr lang="en-US"/>
              <a:t>(2013, September 13). </a:t>
            </a:r>
            <a:r>
              <a:rPr lang="en-US" i="1"/>
              <a:t>Just Culture: A Foundation for Balanced Accountability and Patient Safety</a:t>
            </a:r>
            <a:r>
              <a:rPr lang="en-US"/>
              <a:t>. Ochsner Journal. </a:t>
            </a:r>
            <a:r>
              <a:rPr lang="en-US">
                <a:hlinkClick r:id="rId4"/>
              </a:rPr>
              <a:t>https://www.ochsnerjournal.org/content/13/3/400</a:t>
            </a:r>
            <a:r>
              <a:rPr lang="en-US"/>
              <a:t> </a:t>
            </a:r>
          </a:p>
          <a:p>
            <a:pPr marL="285750" indent="-285750">
              <a:buChar char="•"/>
            </a:pPr>
            <a:r>
              <a:rPr lang="en-US"/>
              <a:t>Shorrock, S. (2023, October 18). </a:t>
            </a:r>
            <a:r>
              <a:rPr lang="en-US" i="1"/>
              <a:t>Why Is It Just So Difficult? Barriers to ‘Just Culture’ in the Real World</a:t>
            </a:r>
            <a:r>
              <a:rPr lang="en-US"/>
              <a:t>. Humanistic Systems. </a:t>
            </a:r>
            <a:r>
              <a:rPr lang="en-US">
                <a:hlinkClick r:id="rId5"/>
              </a:rPr>
              <a:t>https://humanisticsystems.com/2023/10/18/why-is-it-just-so-difficult-barriers-to-just-culture-in-the-real-world/</a:t>
            </a:r>
            <a:r>
              <a:rPr lang="en-US"/>
              <a:t> </a:t>
            </a:r>
          </a:p>
          <a:p>
            <a:pPr marL="285750" indent="-285750">
              <a:buChar char="•"/>
            </a:pPr>
            <a:r>
              <a:rPr lang="en-US"/>
              <a:t>(n.d.). </a:t>
            </a:r>
            <a:r>
              <a:rPr lang="en-US" i="1"/>
              <a:t>Defining Just Culture</a:t>
            </a:r>
            <a:r>
              <a:rPr lang="en-US"/>
              <a:t>. Just Culture. https://www.justculture.healthcare/defining-just-culture/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430</Words>
  <Application>Microsoft Office PowerPoint</Application>
  <PresentationFormat>Widescreen</PresentationFormat>
  <Paragraphs>133</Paragraphs>
  <Slides>9</Slides>
  <Notes>9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Custom</vt:lpstr>
      <vt:lpstr>Establishing a just, learning culture barrier to implementing a just culture</vt:lpstr>
      <vt:lpstr>What is a just culture?</vt:lpstr>
      <vt:lpstr>Why is it hard to implement</vt:lpstr>
      <vt:lpstr>Human and psychological challenges</vt:lpstr>
      <vt:lpstr>Organizational barriers</vt:lpstr>
      <vt:lpstr>External Pressures</vt:lpstr>
      <vt:lpstr>Leadership and culture issues</vt:lpstr>
      <vt:lpstr>What can help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332</cp:revision>
  <dcterms:created xsi:type="dcterms:W3CDTF">2025-07-10T23:48:35Z</dcterms:created>
  <dcterms:modified xsi:type="dcterms:W3CDTF">2025-07-11T01:46:47Z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