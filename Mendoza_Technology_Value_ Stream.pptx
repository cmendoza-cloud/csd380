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4"/>
  </p:sldMasterIdLst>
  <p:notesMasterIdLst>
    <p:notesMasterId r:id="rId16"/>
  </p:notesMasterIdLst>
  <p:handoutMasterIdLst>
    <p:handoutMasterId r:id="rId17"/>
  </p:handoutMasterIdLst>
  <p:sldIdLst>
    <p:sldId id="278" r:id="rId5"/>
    <p:sldId id="282" r:id="rId6"/>
    <p:sldId id="271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1F361F-CC30-8841-C957-60754460CA71}" v="1105" dt="2025-05-31T03:04:47.417"/>
  </p1510:revLst>
</p1510:revInfo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57" autoAdjust="0"/>
    <p:restoredTop sz="95388" autoAdjust="0"/>
  </p:normalViewPr>
  <p:slideViewPr>
    <p:cSldViewPr snapToGrid="0">
      <p:cViewPr varScale="1">
        <p:scale>
          <a:sx n="98" d="100"/>
          <a:sy n="98" d="100"/>
        </p:scale>
        <p:origin x="54" y="67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9A8AE0-9F34-4FEC-A505-B63A92F5B88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E0B8866-12B4-473E-AE9D-C9C3C055C6A9}">
      <dgm:prSet/>
      <dgm:spPr/>
      <dgm:t>
        <a:bodyPr/>
        <a:lstStyle/>
        <a:p>
          <a:r>
            <a:rPr lang="en-US"/>
            <a:t>It includes requirements gathering, design, development, testing, deployment, and maintenance. </a:t>
          </a:r>
        </a:p>
      </dgm:t>
    </dgm:pt>
    <dgm:pt modelId="{6FD92B3B-E809-4DE2-A2BE-6270B1108996}" type="parTrans" cxnId="{CA57AC5D-5AA3-4C42-82F9-5FD9B7A2F986}">
      <dgm:prSet/>
      <dgm:spPr/>
      <dgm:t>
        <a:bodyPr/>
        <a:lstStyle/>
        <a:p>
          <a:endParaRPr lang="en-US"/>
        </a:p>
      </dgm:t>
    </dgm:pt>
    <dgm:pt modelId="{231B20F7-16C2-4B00-A8D4-2B1AD8B7C378}" type="sibTrans" cxnId="{CA57AC5D-5AA3-4C42-82F9-5FD9B7A2F986}">
      <dgm:prSet/>
      <dgm:spPr/>
      <dgm:t>
        <a:bodyPr/>
        <a:lstStyle/>
        <a:p>
          <a:endParaRPr lang="en-US"/>
        </a:p>
      </dgm:t>
    </dgm:pt>
    <dgm:pt modelId="{97E00EB9-E7A2-45AF-8608-0D09E82C3B3D}">
      <dgm:prSet/>
      <dgm:spPr/>
      <dgm:t>
        <a:bodyPr/>
        <a:lstStyle/>
        <a:p>
          <a:r>
            <a:rPr lang="en-US"/>
            <a:t>Goal: to improve speed and quality of delivery through collaborations and continuous feedback.</a:t>
          </a:r>
        </a:p>
      </dgm:t>
    </dgm:pt>
    <dgm:pt modelId="{8592635A-9363-43B6-B5CC-22FC131A8C2F}" type="parTrans" cxnId="{05181E50-A9E9-48AB-B91F-48C86FFE8626}">
      <dgm:prSet/>
      <dgm:spPr/>
      <dgm:t>
        <a:bodyPr/>
        <a:lstStyle/>
        <a:p>
          <a:endParaRPr lang="en-US"/>
        </a:p>
      </dgm:t>
    </dgm:pt>
    <dgm:pt modelId="{7210974B-2EB5-4140-9765-94B564B94A3A}" type="sibTrans" cxnId="{05181E50-A9E9-48AB-B91F-48C86FFE8626}">
      <dgm:prSet/>
      <dgm:spPr/>
      <dgm:t>
        <a:bodyPr/>
        <a:lstStyle/>
        <a:p>
          <a:endParaRPr lang="en-US"/>
        </a:p>
      </dgm:t>
    </dgm:pt>
    <dgm:pt modelId="{00655BB1-685B-40B7-B6B3-24F1B5AD4271}" type="pres">
      <dgm:prSet presAssocID="{D79A8AE0-9F34-4FEC-A505-B63A92F5B882}" presName="root" presStyleCnt="0">
        <dgm:presLayoutVars>
          <dgm:dir/>
          <dgm:resizeHandles val="exact"/>
        </dgm:presLayoutVars>
      </dgm:prSet>
      <dgm:spPr/>
    </dgm:pt>
    <dgm:pt modelId="{F89C605D-9BCC-4A52-87E8-591A88793EAB}" type="pres">
      <dgm:prSet presAssocID="{AE0B8866-12B4-473E-AE9D-C9C3C055C6A9}" presName="compNode" presStyleCnt="0"/>
      <dgm:spPr/>
    </dgm:pt>
    <dgm:pt modelId="{DE3B7F25-6EB0-4083-9B3E-033962D2481D}" type="pres">
      <dgm:prSet presAssocID="{AE0B8866-12B4-473E-AE9D-C9C3C055C6A9}" presName="bgRect" presStyleLbl="bgShp" presStyleIdx="0" presStyleCnt="2"/>
      <dgm:spPr/>
    </dgm:pt>
    <dgm:pt modelId="{126EC71D-2AE9-4522-9D2D-822742A0BE66}" type="pres">
      <dgm:prSet presAssocID="{AE0B8866-12B4-473E-AE9D-C9C3C055C6A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4C3D4F9-EE4D-4C23-AF7D-7F927574EEB9}" type="pres">
      <dgm:prSet presAssocID="{AE0B8866-12B4-473E-AE9D-C9C3C055C6A9}" presName="spaceRect" presStyleCnt="0"/>
      <dgm:spPr/>
    </dgm:pt>
    <dgm:pt modelId="{459A13D1-2743-4DA0-BC03-B636A0F5CCFD}" type="pres">
      <dgm:prSet presAssocID="{AE0B8866-12B4-473E-AE9D-C9C3C055C6A9}" presName="parTx" presStyleLbl="revTx" presStyleIdx="0" presStyleCnt="2">
        <dgm:presLayoutVars>
          <dgm:chMax val="0"/>
          <dgm:chPref val="0"/>
        </dgm:presLayoutVars>
      </dgm:prSet>
      <dgm:spPr/>
    </dgm:pt>
    <dgm:pt modelId="{29C7AC02-6003-4BD5-BBCA-197369A28C79}" type="pres">
      <dgm:prSet presAssocID="{231B20F7-16C2-4B00-A8D4-2B1AD8B7C378}" presName="sibTrans" presStyleCnt="0"/>
      <dgm:spPr/>
    </dgm:pt>
    <dgm:pt modelId="{DD7CB018-1340-46E1-B950-4BF5531F5D33}" type="pres">
      <dgm:prSet presAssocID="{97E00EB9-E7A2-45AF-8608-0D09E82C3B3D}" presName="compNode" presStyleCnt="0"/>
      <dgm:spPr/>
    </dgm:pt>
    <dgm:pt modelId="{1F48DBFB-9A32-4490-9971-3F31653E235E}" type="pres">
      <dgm:prSet presAssocID="{97E00EB9-E7A2-45AF-8608-0D09E82C3B3D}" presName="bgRect" presStyleLbl="bgShp" presStyleIdx="1" presStyleCnt="2"/>
      <dgm:spPr/>
    </dgm:pt>
    <dgm:pt modelId="{2A4B4966-21C2-44AC-A27E-F38938C604FB}" type="pres">
      <dgm:prSet presAssocID="{97E00EB9-E7A2-45AF-8608-0D09E82C3B3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47779D21-40BA-4242-A5F5-DEA62E04678B}" type="pres">
      <dgm:prSet presAssocID="{97E00EB9-E7A2-45AF-8608-0D09E82C3B3D}" presName="spaceRect" presStyleCnt="0"/>
      <dgm:spPr/>
    </dgm:pt>
    <dgm:pt modelId="{CFB97709-2789-454E-918E-31E79CA80829}" type="pres">
      <dgm:prSet presAssocID="{97E00EB9-E7A2-45AF-8608-0D09E82C3B3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2A1A923-9CC9-4FB5-89E6-5688DB4CCC0D}" type="presOf" srcId="{97E00EB9-E7A2-45AF-8608-0D09E82C3B3D}" destId="{CFB97709-2789-454E-918E-31E79CA80829}" srcOrd="0" destOrd="0" presId="urn:microsoft.com/office/officeart/2018/2/layout/IconVerticalSolidList"/>
    <dgm:cxn modelId="{CA57AC5D-5AA3-4C42-82F9-5FD9B7A2F986}" srcId="{D79A8AE0-9F34-4FEC-A505-B63A92F5B882}" destId="{AE0B8866-12B4-473E-AE9D-C9C3C055C6A9}" srcOrd="0" destOrd="0" parTransId="{6FD92B3B-E809-4DE2-A2BE-6270B1108996}" sibTransId="{231B20F7-16C2-4B00-A8D4-2B1AD8B7C378}"/>
    <dgm:cxn modelId="{05181E50-A9E9-48AB-B91F-48C86FFE8626}" srcId="{D79A8AE0-9F34-4FEC-A505-B63A92F5B882}" destId="{97E00EB9-E7A2-45AF-8608-0D09E82C3B3D}" srcOrd="1" destOrd="0" parTransId="{8592635A-9363-43B6-B5CC-22FC131A8C2F}" sibTransId="{7210974B-2EB5-4140-9765-94B564B94A3A}"/>
    <dgm:cxn modelId="{BC26EA8F-99C0-477B-AD0E-39F9FE975DB0}" type="presOf" srcId="{D79A8AE0-9F34-4FEC-A505-B63A92F5B882}" destId="{00655BB1-685B-40B7-B6B3-24F1B5AD4271}" srcOrd="0" destOrd="0" presId="urn:microsoft.com/office/officeart/2018/2/layout/IconVerticalSolidList"/>
    <dgm:cxn modelId="{07473EFC-4A47-454A-939A-114BE0E37C11}" type="presOf" srcId="{AE0B8866-12B4-473E-AE9D-C9C3C055C6A9}" destId="{459A13D1-2743-4DA0-BC03-B636A0F5CCFD}" srcOrd="0" destOrd="0" presId="urn:microsoft.com/office/officeart/2018/2/layout/IconVerticalSolidList"/>
    <dgm:cxn modelId="{A3A8C57E-F59C-4AB8-8C61-986E60A21CE4}" type="presParOf" srcId="{00655BB1-685B-40B7-B6B3-24F1B5AD4271}" destId="{F89C605D-9BCC-4A52-87E8-591A88793EAB}" srcOrd="0" destOrd="0" presId="urn:microsoft.com/office/officeart/2018/2/layout/IconVerticalSolidList"/>
    <dgm:cxn modelId="{646CEA9D-4786-40CB-9F9E-11383FA7DA92}" type="presParOf" srcId="{F89C605D-9BCC-4A52-87E8-591A88793EAB}" destId="{DE3B7F25-6EB0-4083-9B3E-033962D2481D}" srcOrd="0" destOrd="0" presId="urn:microsoft.com/office/officeart/2018/2/layout/IconVerticalSolidList"/>
    <dgm:cxn modelId="{F7216D84-EB77-4E9D-93BB-E4A7B5CE497D}" type="presParOf" srcId="{F89C605D-9BCC-4A52-87E8-591A88793EAB}" destId="{126EC71D-2AE9-4522-9D2D-822742A0BE66}" srcOrd="1" destOrd="0" presId="urn:microsoft.com/office/officeart/2018/2/layout/IconVerticalSolidList"/>
    <dgm:cxn modelId="{418785C7-DB5F-450E-A24D-FE5EBA2B91EE}" type="presParOf" srcId="{F89C605D-9BCC-4A52-87E8-591A88793EAB}" destId="{94C3D4F9-EE4D-4C23-AF7D-7F927574EEB9}" srcOrd="2" destOrd="0" presId="urn:microsoft.com/office/officeart/2018/2/layout/IconVerticalSolidList"/>
    <dgm:cxn modelId="{504510A3-3B6E-4210-849E-587EABAE6B46}" type="presParOf" srcId="{F89C605D-9BCC-4A52-87E8-591A88793EAB}" destId="{459A13D1-2743-4DA0-BC03-B636A0F5CCFD}" srcOrd="3" destOrd="0" presId="urn:microsoft.com/office/officeart/2018/2/layout/IconVerticalSolidList"/>
    <dgm:cxn modelId="{0999A25A-814F-4771-B720-A23327D59462}" type="presParOf" srcId="{00655BB1-685B-40B7-B6B3-24F1B5AD4271}" destId="{29C7AC02-6003-4BD5-BBCA-197369A28C79}" srcOrd="1" destOrd="0" presId="urn:microsoft.com/office/officeart/2018/2/layout/IconVerticalSolidList"/>
    <dgm:cxn modelId="{A50E07C8-A60F-4DEF-AD7E-ED6478A21014}" type="presParOf" srcId="{00655BB1-685B-40B7-B6B3-24F1B5AD4271}" destId="{DD7CB018-1340-46E1-B950-4BF5531F5D33}" srcOrd="2" destOrd="0" presId="urn:microsoft.com/office/officeart/2018/2/layout/IconVerticalSolidList"/>
    <dgm:cxn modelId="{64FC2A5C-91E3-4254-83B7-DE35D4C1386B}" type="presParOf" srcId="{DD7CB018-1340-46E1-B950-4BF5531F5D33}" destId="{1F48DBFB-9A32-4490-9971-3F31653E235E}" srcOrd="0" destOrd="0" presId="urn:microsoft.com/office/officeart/2018/2/layout/IconVerticalSolidList"/>
    <dgm:cxn modelId="{0308DE28-D314-4B9C-A483-9E7B8EEEE9C5}" type="presParOf" srcId="{DD7CB018-1340-46E1-B950-4BF5531F5D33}" destId="{2A4B4966-21C2-44AC-A27E-F38938C604FB}" srcOrd="1" destOrd="0" presId="urn:microsoft.com/office/officeart/2018/2/layout/IconVerticalSolidList"/>
    <dgm:cxn modelId="{59BCE062-E3CA-472A-A855-516F9EE9DB22}" type="presParOf" srcId="{DD7CB018-1340-46E1-B950-4BF5531F5D33}" destId="{47779D21-40BA-4242-A5F5-DEA62E04678B}" srcOrd="2" destOrd="0" presId="urn:microsoft.com/office/officeart/2018/2/layout/IconVerticalSolidList"/>
    <dgm:cxn modelId="{D3A0F940-CF89-4D7D-84A5-41A174560CF3}" type="presParOf" srcId="{DD7CB018-1340-46E1-B950-4BF5531F5D33}" destId="{CFB97709-2789-454E-918E-31E79CA8082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D6B2EF-87C8-4529-8C37-DDE480F009D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5CC91C7-DEE0-45A2-A537-63C566930154}">
      <dgm:prSet/>
      <dgm:spPr/>
      <dgm:t>
        <a:bodyPr/>
        <a:lstStyle/>
        <a:p>
          <a:r>
            <a:rPr lang="en-US"/>
            <a:t>To reduce deployment lead time from months to minutes  </a:t>
          </a:r>
        </a:p>
      </dgm:t>
    </dgm:pt>
    <dgm:pt modelId="{F9D48CF3-942D-452E-BEB1-D3E8B9B0F2A1}" type="parTrans" cxnId="{D74F4FB7-511E-432B-B665-76EE9BD6EF32}">
      <dgm:prSet/>
      <dgm:spPr/>
      <dgm:t>
        <a:bodyPr/>
        <a:lstStyle/>
        <a:p>
          <a:endParaRPr lang="en-US"/>
        </a:p>
      </dgm:t>
    </dgm:pt>
    <dgm:pt modelId="{D13AE8E4-88D0-4E01-93B9-06011B428441}" type="sibTrans" cxnId="{D74F4FB7-511E-432B-B665-76EE9BD6EF32}">
      <dgm:prSet/>
      <dgm:spPr/>
      <dgm:t>
        <a:bodyPr/>
        <a:lstStyle/>
        <a:p>
          <a:endParaRPr lang="en-US"/>
        </a:p>
      </dgm:t>
    </dgm:pt>
    <dgm:pt modelId="{84679367-9C48-4FE9-ADCE-7378492769FA}">
      <dgm:prSet/>
      <dgm:spPr/>
      <dgm:t>
        <a:bodyPr/>
        <a:lstStyle/>
        <a:p>
          <a:r>
            <a:rPr lang="en-US"/>
            <a:t>This can be done by: </a:t>
          </a:r>
        </a:p>
      </dgm:t>
    </dgm:pt>
    <dgm:pt modelId="{F580015C-E5F7-4D68-961F-0FCB33514495}" type="parTrans" cxnId="{79E5F673-AD41-44CA-98E8-D7913B2F158B}">
      <dgm:prSet/>
      <dgm:spPr/>
      <dgm:t>
        <a:bodyPr/>
        <a:lstStyle/>
        <a:p>
          <a:endParaRPr lang="en-US"/>
        </a:p>
      </dgm:t>
    </dgm:pt>
    <dgm:pt modelId="{8C060167-98DA-4289-B1DD-8C8ABC1B1936}" type="sibTrans" cxnId="{79E5F673-AD41-44CA-98E8-D7913B2F158B}">
      <dgm:prSet/>
      <dgm:spPr/>
      <dgm:t>
        <a:bodyPr/>
        <a:lstStyle/>
        <a:p>
          <a:endParaRPr lang="en-US"/>
        </a:p>
      </dgm:t>
    </dgm:pt>
    <dgm:pt modelId="{95BB8AE0-4D91-4B7D-90BD-450AB1374B49}">
      <dgm:prSet/>
      <dgm:spPr/>
      <dgm:t>
        <a:bodyPr/>
        <a:lstStyle/>
        <a:p>
          <a:r>
            <a:rPr lang="en-US"/>
            <a:t>Automation of testing and deployment </a:t>
          </a:r>
        </a:p>
      </dgm:t>
    </dgm:pt>
    <dgm:pt modelId="{9D4F9B0D-9646-4520-9ACA-A0F319252C91}" type="parTrans" cxnId="{D9814896-ADA2-433E-AE78-A42E49415A61}">
      <dgm:prSet/>
      <dgm:spPr/>
      <dgm:t>
        <a:bodyPr/>
        <a:lstStyle/>
        <a:p>
          <a:endParaRPr lang="en-US"/>
        </a:p>
      </dgm:t>
    </dgm:pt>
    <dgm:pt modelId="{FB796ED4-066F-40CD-9852-DCC981E8C2D5}" type="sibTrans" cxnId="{D9814896-ADA2-433E-AE78-A42E49415A61}">
      <dgm:prSet/>
      <dgm:spPr/>
      <dgm:t>
        <a:bodyPr/>
        <a:lstStyle/>
        <a:p>
          <a:endParaRPr lang="en-US"/>
        </a:p>
      </dgm:t>
    </dgm:pt>
    <dgm:pt modelId="{D1226D6E-CFB1-4E4B-9FC1-D3A2472BE876}">
      <dgm:prSet/>
      <dgm:spPr/>
      <dgm:t>
        <a:bodyPr/>
        <a:lstStyle/>
        <a:p>
          <a:r>
            <a:rPr lang="en-US"/>
            <a:t>Continuous Integration and delivery </a:t>
          </a:r>
        </a:p>
      </dgm:t>
    </dgm:pt>
    <dgm:pt modelId="{D673AE36-3D80-4B04-8B5B-80D6892971CB}" type="parTrans" cxnId="{A273839D-F1FF-4D58-9A6E-308565FD9991}">
      <dgm:prSet/>
      <dgm:spPr/>
      <dgm:t>
        <a:bodyPr/>
        <a:lstStyle/>
        <a:p>
          <a:endParaRPr lang="en-US"/>
        </a:p>
      </dgm:t>
    </dgm:pt>
    <dgm:pt modelId="{9418640D-8249-440E-B3D7-AF4AB4486CD7}" type="sibTrans" cxnId="{A273839D-F1FF-4D58-9A6E-308565FD9991}">
      <dgm:prSet/>
      <dgm:spPr/>
      <dgm:t>
        <a:bodyPr/>
        <a:lstStyle/>
        <a:p>
          <a:endParaRPr lang="en-US"/>
        </a:p>
      </dgm:t>
    </dgm:pt>
    <dgm:pt modelId="{CC32FB0A-AB0C-43BB-8BDD-4FC3F40A75D8}">
      <dgm:prSet/>
      <dgm:spPr/>
      <dgm:t>
        <a:bodyPr/>
        <a:lstStyle/>
        <a:p>
          <a:r>
            <a:rPr lang="en-US"/>
            <a:t>This will impact by having higher reliability, faster innovation, and continuous improvement</a:t>
          </a:r>
        </a:p>
      </dgm:t>
    </dgm:pt>
    <dgm:pt modelId="{18207A94-8B16-4B41-992E-A09897B92961}" type="parTrans" cxnId="{B02D3BDD-312D-4CF1-AF8E-050FEC0C117D}">
      <dgm:prSet/>
      <dgm:spPr/>
      <dgm:t>
        <a:bodyPr/>
        <a:lstStyle/>
        <a:p>
          <a:endParaRPr lang="en-US"/>
        </a:p>
      </dgm:t>
    </dgm:pt>
    <dgm:pt modelId="{53EDF7D5-C145-44A6-9E88-CE11D6961A25}" type="sibTrans" cxnId="{B02D3BDD-312D-4CF1-AF8E-050FEC0C117D}">
      <dgm:prSet/>
      <dgm:spPr/>
      <dgm:t>
        <a:bodyPr/>
        <a:lstStyle/>
        <a:p>
          <a:endParaRPr lang="en-US"/>
        </a:p>
      </dgm:t>
    </dgm:pt>
    <dgm:pt modelId="{59E7D112-7DD6-4767-BD11-0A3EFE9AC125}" type="pres">
      <dgm:prSet presAssocID="{A7D6B2EF-87C8-4529-8C37-DDE480F009D5}" presName="linear" presStyleCnt="0">
        <dgm:presLayoutVars>
          <dgm:animLvl val="lvl"/>
          <dgm:resizeHandles val="exact"/>
        </dgm:presLayoutVars>
      </dgm:prSet>
      <dgm:spPr/>
    </dgm:pt>
    <dgm:pt modelId="{D06F267B-D1BF-42B7-AF30-FBD5721805A3}" type="pres">
      <dgm:prSet presAssocID="{25CC91C7-DEE0-45A2-A537-63C566930154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54AE5DED-FA17-4093-B647-AC215CED4BD3}" type="pres">
      <dgm:prSet presAssocID="{25CC91C7-DEE0-45A2-A537-63C566930154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77512D44-8D36-4548-BB34-0A13D18087B5}" type="presOf" srcId="{CC32FB0A-AB0C-43BB-8BDD-4FC3F40A75D8}" destId="{54AE5DED-FA17-4093-B647-AC215CED4BD3}" srcOrd="0" destOrd="3" presId="urn:microsoft.com/office/officeart/2005/8/layout/vList2"/>
    <dgm:cxn modelId="{79E5F673-AD41-44CA-98E8-D7913B2F158B}" srcId="{25CC91C7-DEE0-45A2-A537-63C566930154}" destId="{84679367-9C48-4FE9-ADCE-7378492769FA}" srcOrd="0" destOrd="0" parTransId="{F580015C-E5F7-4D68-961F-0FCB33514495}" sibTransId="{8C060167-98DA-4289-B1DD-8C8ABC1B1936}"/>
    <dgm:cxn modelId="{3E0FF577-ED70-4A00-A53C-A2A7C9CC440B}" type="presOf" srcId="{D1226D6E-CFB1-4E4B-9FC1-D3A2472BE876}" destId="{54AE5DED-FA17-4093-B647-AC215CED4BD3}" srcOrd="0" destOrd="2" presId="urn:microsoft.com/office/officeart/2005/8/layout/vList2"/>
    <dgm:cxn modelId="{5141DD83-86D3-477A-84E3-73CAC02BF60A}" type="presOf" srcId="{25CC91C7-DEE0-45A2-A537-63C566930154}" destId="{D06F267B-D1BF-42B7-AF30-FBD5721805A3}" srcOrd="0" destOrd="0" presId="urn:microsoft.com/office/officeart/2005/8/layout/vList2"/>
    <dgm:cxn modelId="{8C51238F-F10D-456C-9465-03548ED06885}" type="presOf" srcId="{A7D6B2EF-87C8-4529-8C37-DDE480F009D5}" destId="{59E7D112-7DD6-4767-BD11-0A3EFE9AC125}" srcOrd="0" destOrd="0" presId="urn:microsoft.com/office/officeart/2005/8/layout/vList2"/>
    <dgm:cxn modelId="{D9814896-ADA2-433E-AE78-A42E49415A61}" srcId="{25CC91C7-DEE0-45A2-A537-63C566930154}" destId="{95BB8AE0-4D91-4B7D-90BD-450AB1374B49}" srcOrd="1" destOrd="0" parTransId="{9D4F9B0D-9646-4520-9ACA-A0F319252C91}" sibTransId="{FB796ED4-066F-40CD-9852-DCC981E8C2D5}"/>
    <dgm:cxn modelId="{A273839D-F1FF-4D58-9A6E-308565FD9991}" srcId="{25CC91C7-DEE0-45A2-A537-63C566930154}" destId="{D1226D6E-CFB1-4E4B-9FC1-D3A2472BE876}" srcOrd="2" destOrd="0" parTransId="{D673AE36-3D80-4B04-8B5B-80D6892971CB}" sibTransId="{9418640D-8249-440E-B3D7-AF4AB4486CD7}"/>
    <dgm:cxn modelId="{A1E86EAD-10CC-4966-8D24-4AB8C59A69A0}" type="presOf" srcId="{84679367-9C48-4FE9-ADCE-7378492769FA}" destId="{54AE5DED-FA17-4093-B647-AC215CED4BD3}" srcOrd="0" destOrd="0" presId="urn:microsoft.com/office/officeart/2005/8/layout/vList2"/>
    <dgm:cxn modelId="{D74F4FB7-511E-432B-B665-76EE9BD6EF32}" srcId="{A7D6B2EF-87C8-4529-8C37-DDE480F009D5}" destId="{25CC91C7-DEE0-45A2-A537-63C566930154}" srcOrd="0" destOrd="0" parTransId="{F9D48CF3-942D-452E-BEB1-D3E8B9B0F2A1}" sibTransId="{D13AE8E4-88D0-4E01-93B9-06011B428441}"/>
    <dgm:cxn modelId="{6E8DB1D2-CE1E-4306-987F-7609519A2D7F}" type="presOf" srcId="{95BB8AE0-4D91-4B7D-90BD-450AB1374B49}" destId="{54AE5DED-FA17-4093-B647-AC215CED4BD3}" srcOrd="0" destOrd="1" presId="urn:microsoft.com/office/officeart/2005/8/layout/vList2"/>
    <dgm:cxn modelId="{B02D3BDD-312D-4CF1-AF8E-050FEC0C117D}" srcId="{25CC91C7-DEE0-45A2-A537-63C566930154}" destId="{CC32FB0A-AB0C-43BB-8BDD-4FC3F40A75D8}" srcOrd="3" destOrd="0" parTransId="{18207A94-8B16-4B41-992E-A09897B92961}" sibTransId="{53EDF7D5-C145-44A6-9E88-CE11D6961A25}"/>
    <dgm:cxn modelId="{BDE24515-A308-489D-9DEC-E80256218E52}" type="presParOf" srcId="{59E7D112-7DD6-4767-BD11-0A3EFE9AC125}" destId="{D06F267B-D1BF-42B7-AF30-FBD5721805A3}" srcOrd="0" destOrd="0" presId="urn:microsoft.com/office/officeart/2005/8/layout/vList2"/>
    <dgm:cxn modelId="{EBA882FA-8903-43F4-B955-C09CF1B007E4}" type="presParOf" srcId="{59E7D112-7DD6-4767-BD11-0A3EFE9AC125}" destId="{54AE5DED-FA17-4093-B647-AC215CED4BD3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3B7F25-6EB0-4083-9B3E-033962D2481D}">
      <dsp:nvSpPr>
        <dsp:cNvPr id="0" name=""/>
        <dsp:cNvSpPr/>
      </dsp:nvSpPr>
      <dsp:spPr>
        <a:xfrm>
          <a:off x="0" y="935910"/>
          <a:ext cx="6373813" cy="17278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6EC71D-2AE9-4522-9D2D-822742A0BE66}">
      <dsp:nvSpPr>
        <dsp:cNvPr id="0" name=""/>
        <dsp:cNvSpPr/>
      </dsp:nvSpPr>
      <dsp:spPr>
        <a:xfrm>
          <a:off x="522670" y="1324673"/>
          <a:ext cx="950309" cy="9503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9A13D1-2743-4DA0-BC03-B636A0F5CCFD}">
      <dsp:nvSpPr>
        <dsp:cNvPr id="0" name=""/>
        <dsp:cNvSpPr/>
      </dsp:nvSpPr>
      <dsp:spPr>
        <a:xfrm>
          <a:off x="1995649" y="935910"/>
          <a:ext cx="4378164" cy="1727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63" tIns="182863" rIns="182863" bIns="18286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It includes requirements gathering, design, development, testing, deployment, and maintenance. </a:t>
          </a:r>
        </a:p>
      </dsp:txBody>
      <dsp:txXfrm>
        <a:off x="1995649" y="935910"/>
        <a:ext cx="4378164" cy="1727835"/>
      </dsp:txXfrm>
    </dsp:sp>
    <dsp:sp modelId="{1F48DBFB-9A32-4490-9971-3F31653E235E}">
      <dsp:nvSpPr>
        <dsp:cNvPr id="0" name=""/>
        <dsp:cNvSpPr/>
      </dsp:nvSpPr>
      <dsp:spPr>
        <a:xfrm>
          <a:off x="0" y="3095704"/>
          <a:ext cx="6373813" cy="17278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4B4966-21C2-44AC-A27E-F38938C604FB}">
      <dsp:nvSpPr>
        <dsp:cNvPr id="0" name=""/>
        <dsp:cNvSpPr/>
      </dsp:nvSpPr>
      <dsp:spPr>
        <a:xfrm>
          <a:off x="522670" y="3484467"/>
          <a:ext cx="950309" cy="9503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B97709-2789-454E-918E-31E79CA80829}">
      <dsp:nvSpPr>
        <dsp:cNvPr id="0" name=""/>
        <dsp:cNvSpPr/>
      </dsp:nvSpPr>
      <dsp:spPr>
        <a:xfrm>
          <a:off x="1995649" y="3095704"/>
          <a:ext cx="4378164" cy="1727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63" tIns="182863" rIns="182863" bIns="18286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Goal: to improve speed and quality of delivery through collaborations and continuous feedback.</a:t>
          </a:r>
        </a:p>
      </dsp:txBody>
      <dsp:txXfrm>
        <a:off x="1995649" y="3095704"/>
        <a:ext cx="4378164" cy="17278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6F267B-D1BF-42B7-AF30-FBD5721805A3}">
      <dsp:nvSpPr>
        <dsp:cNvPr id="0" name=""/>
        <dsp:cNvSpPr/>
      </dsp:nvSpPr>
      <dsp:spPr>
        <a:xfrm>
          <a:off x="0" y="55264"/>
          <a:ext cx="5435600" cy="1235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To reduce deployment lead time from months to minutes  </a:t>
          </a:r>
        </a:p>
      </dsp:txBody>
      <dsp:txXfrm>
        <a:off x="60313" y="115577"/>
        <a:ext cx="5314974" cy="1114894"/>
      </dsp:txXfrm>
    </dsp:sp>
    <dsp:sp modelId="{54AE5DED-FA17-4093-B647-AC215CED4BD3}">
      <dsp:nvSpPr>
        <dsp:cNvPr id="0" name=""/>
        <dsp:cNvSpPr/>
      </dsp:nvSpPr>
      <dsp:spPr>
        <a:xfrm>
          <a:off x="0" y="1290784"/>
          <a:ext cx="5435600" cy="2649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580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This can be done by: 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Automation of testing and deployment 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Continuous Integration and delivery 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This will impact by having higher reliability, faster innovation, and continuous improvement</a:t>
          </a:r>
        </a:p>
      </dsp:txBody>
      <dsp:txXfrm>
        <a:off x="0" y="1290784"/>
        <a:ext cx="5435600" cy="2649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BC71B-6527-4638-937B-C93EB849CB02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70580-B89C-4157-871D-6B9318EE5F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465A2-8C9C-419F-9FD8-234480873777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00E9-A49D-4007-B3B9-A3783809E5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191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63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056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488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85418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86218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23310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73780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51633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27866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73468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5793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69433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60558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59864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3520569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itle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Freeform: Shape 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Freeform: Shape 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Freeform: Shape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483383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4045464"/>
            <a:ext cx="11115355" cy="2286000"/>
          </a:xfrm>
        </p:spPr>
        <p:txBody>
          <a:bodyPr anchor="ctr">
            <a:no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94"/>
            <a:ext cx="12192000" cy="377187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BF9F63-86BE-5515-AD3C-59481B3FF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384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196900"/>
            <a:ext cx="4159160" cy="3155900"/>
          </a:xfrm>
        </p:spPr>
        <p:txBody>
          <a:bodyPr lIns="91440" anchor="b">
            <a:no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7271" y="3505200"/>
            <a:ext cx="4159160" cy="2352356"/>
          </a:xfrm>
        </p:spPr>
        <p:txBody>
          <a:bodyPr lIns="91440" rIns="9144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0ABD6E1-FE78-D78B-E80C-09490F5D8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2BB1BCD-5C1C-ED05-D6B4-F92367209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700A5CAB-28E9-FB7A-E72E-39F3ADE58C6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2BA2D9BC-CA87-28FA-7A02-455E740EAC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734E5ADF-EEF0-2501-9D7B-8FC1A49F60A7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80F3839-9B1B-2346-C1F4-E876E6AE32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78049" y="78871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tIns="365760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470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Freeform: Shape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Freeform: Shape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Freeform: Shape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40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4046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D26C0-4AFC-33CC-99BE-317E9A84435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76680"/>
            <a:ext cx="9144000" cy="2286000"/>
          </a:xfrm>
        </p:spPr>
        <p:txBody>
          <a:bodyPr anchor="b">
            <a:no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99840"/>
            <a:ext cx="9144000" cy="22860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7281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1103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974" y="196900"/>
            <a:ext cx="4899628" cy="2331490"/>
          </a:xfrm>
        </p:spPr>
        <p:txBody>
          <a:bodyPr anchor="b" anchorCtr="0">
            <a:noAutofit/>
          </a:bodyPr>
          <a:lstStyle>
            <a:lvl1pPr algn="r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3162" y="2827209"/>
            <a:ext cx="4917440" cy="3442144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algn="r">
              <a:defRPr sz="1200">
                <a:solidFill>
                  <a:schemeClr val="tx1"/>
                </a:solidFill>
              </a:defRPr>
            </a:lvl2pPr>
            <a:lvl3pPr algn="r">
              <a:defRPr sz="1200">
                <a:solidFill>
                  <a:schemeClr val="tx1"/>
                </a:solidFill>
              </a:defRPr>
            </a:lvl3pPr>
            <a:lvl4pPr algn="r">
              <a:defRPr sz="1200">
                <a:solidFill>
                  <a:schemeClr val="tx1"/>
                </a:solidFill>
              </a:defRPr>
            </a:lvl4pPr>
            <a:lvl5pPr algn="r"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588" y="0"/>
            <a:ext cx="609599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904CD02-7C7D-28DD-85A8-2FD92C29D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FB7341D0-DC30-9661-B3E0-91DE7C37946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92A118B5-9F91-EA1B-3F95-6BFA5095544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208891A5-91FA-D924-CB46-E74B50635001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E5F7483-2261-D4C4-30E3-2D379D8CA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2080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50801"/>
            <a:ext cx="11090275" cy="1237360"/>
          </a:xfrm>
        </p:spPr>
        <p:txBody>
          <a:bodyPr anchor="t" anchorCtr="0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3720" y="1917065"/>
            <a:ext cx="2921000" cy="429768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4048759" y="1917065"/>
            <a:ext cx="7591799" cy="429768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318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8315"/>
            <a:ext cx="11090274" cy="13320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FC6ED4-22DD-0C3B-D15A-218307AB6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12" name="Freeform: Shape 25">
              <a:extLst>
                <a:ext uri="{FF2B5EF4-FFF2-40B4-BE49-F238E27FC236}">
                  <a16:creationId xmlns:a16="http://schemas.microsoft.com/office/drawing/2014/main" id="{E4CD0F67-4BE8-1120-FCAE-806F9E18DD5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9B74B85-E3CB-E24E-54C6-AB161411D93A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Freeform: Shape 21">
            <a:extLst>
              <a:ext uri="{FF2B5EF4-FFF2-40B4-BE49-F238E27FC236}">
                <a16:creationId xmlns:a16="http://schemas.microsoft.com/office/drawing/2014/main" id="{5781DEED-6608-D622-CA5E-C91FD8645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1965095"/>
            <a:ext cx="5435600" cy="399565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4B946DE-F802-2F36-2789-09D7F860408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01305" y="1965095"/>
            <a:ext cx="5339397" cy="399565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073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60961"/>
            <a:ext cx="11090275" cy="1186560"/>
          </a:xfrm>
        </p:spPr>
        <p:txBody>
          <a:bodyPr anchor="t" anchorCtr="0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28186-3489-427F-79D0-B7844402362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1" y="1917064"/>
            <a:ext cx="11090275" cy="4297679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46553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54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832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9558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  <p:sldLayoutId id="2147483724" r:id="rId19"/>
    <p:sldLayoutId id="2147483725" r:id="rId20"/>
    <p:sldLayoutId id="2147483726" r:id="rId21"/>
    <p:sldLayoutId id="2147483727" r:id="rId22"/>
    <p:sldLayoutId id="2147483728" r:id="rId2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0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chtarget.com/searchcio/definition/value-stream-management" TargetMode="Externa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ctr">
            <a:noAutofit/>
          </a:bodyPr>
          <a:lstStyle/>
          <a:p>
            <a:r>
              <a:rPr lang="en-US"/>
              <a:t>The Technology Value </a:t>
            </a:r>
            <a:r>
              <a:rPr lang="en-US" dirty="0"/>
              <a:t>Stream </a:t>
            </a:r>
            <a:br>
              <a:rPr lang="en-US" dirty="0"/>
            </a:br>
            <a:br>
              <a:rPr lang="en-US" dirty="0"/>
            </a:br>
            <a:r>
              <a:rPr lang="en-US" sz="2800"/>
              <a:t>Carmen Mendoza</a:t>
            </a:r>
            <a:br>
              <a:rPr lang="en-US" sz="2800" dirty="0"/>
            </a:br>
            <a:r>
              <a:rPr lang="en-US" sz="2800" dirty="0"/>
              <a:t>CSD380</a:t>
            </a:r>
            <a:r>
              <a:rPr lang="en-US" dirty="0"/>
              <a:t> </a:t>
            </a:r>
            <a:br>
              <a:rPr lang="en-US" dirty="0"/>
            </a:br>
            <a:br>
              <a:rPr lang="en-US" dirty="0"/>
            </a:br>
            <a:endParaRPr lang="en-US"/>
          </a:p>
        </p:txBody>
      </p:sp>
      <p:pic>
        <p:nvPicPr>
          <p:cNvPr id="8" name="Picture Placeholder 13" descr="Data points digital background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/>
      </p:pic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5BE93-0252-3CC3-B567-14EC47EB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CA07C-1908-B1EB-82FA-EC63DAAF4CF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wrap="square" lIns="0" tIns="0" rIns="0" bIns="0" rtlCol="0" anchor="t">
            <a:normAutofit/>
          </a:bodyPr>
          <a:lstStyle/>
          <a:p>
            <a:r>
              <a:rPr lang="en-US" dirty="0"/>
              <a:t>Understand Lead Time </a:t>
            </a:r>
          </a:p>
          <a:p>
            <a:r>
              <a:rPr lang="en-US" dirty="0"/>
              <a:t>Processing Time </a:t>
            </a:r>
          </a:p>
          <a:p>
            <a:r>
              <a:rPr lang="en-US" dirty="0"/>
              <a:t>DevOps Goals </a:t>
            </a:r>
          </a:p>
        </p:txBody>
      </p:sp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 anchor="ctr"/>
          <a:lstStyle/>
          <a:p>
            <a:r>
              <a:rPr lang="en-US" dirty="0"/>
              <a:t>What is the Technology Value Stream?</a:t>
            </a:r>
          </a:p>
        </p:txBody>
      </p:sp>
      <p:pic>
        <p:nvPicPr>
          <p:cNvPr id="11" name="Picture Placeholder 15" descr="Data points digital background">
            <a:extLst>
              <a:ext uri="{FF2B5EF4-FFF2-40B4-BE49-F238E27FC236}">
                <a16:creationId xmlns:a16="http://schemas.microsoft.com/office/drawing/2014/main" id="{A496DCE5-C34A-22C2-A9D8-E90DFC8CE86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/>
      </p:pic>
    </p:spTree>
    <p:extLst>
      <p:ext uri="{BB962C8B-B14F-4D97-AF65-F5344CB8AC3E}">
        <p14:creationId xmlns:p14="http://schemas.microsoft.com/office/powerpoint/2010/main" val="1839748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6400"/>
              <a:t>Technology Value Stream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EBFBB3C-FA07-4A06-A8D8-D690F92A2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6000" y="501282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27610"/>
            <a:ext cx="5437187" cy="2265216"/>
          </a:xfrm>
        </p:spPr>
        <p:txBody>
          <a:bodyPr vert="horz" wrap="square" lIns="0" tIns="0" rIns="0" bIns="0" rtlCol="0" anchor="t">
            <a:normAutofit fontScale="92500"/>
          </a:bodyPr>
          <a:lstStyle/>
          <a:p>
            <a:pPr>
              <a:spcAft>
                <a:spcPts val="800"/>
              </a:spcAft>
            </a:pPr>
            <a:r>
              <a:rPr lang="en-US" dirty="0">
                <a:solidFill>
                  <a:schemeClr val="tx1">
                    <a:alpha val="60000"/>
                  </a:schemeClr>
                </a:solidFill>
              </a:rPr>
              <a:t>The Technology Value Stream is "the process required to convert a business hypothesis into a technology-enabled service or feature that delivers value to the customers".</a:t>
            </a:r>
          </a:p>
          <a:p>
            <a:pPr>
              <a:spcAft>
                <a:spcPts val="800"/>
              </a:spcAft>
            </a:pPr>
            <a:r>
              <a:rPr lang="en-US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Kim, G., Humble, J., Debois, P., &amp; Willis, J. (2021). </a:t>
            </a:r>
            <a:r>
              <a:rPr lang="en-US" i="1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The DevOps Handbook</a:t>
            </a:r>
            <a:r>
              <a:rPr lang="en-US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(p. 9). It Revolution.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pic>
        <p:nvPicPr>
          <p:cNvPr id="7" name="Picture Placeholder 17" descr="A diagram of a company&#10;&#10;AI-generated content may be incorrect.">
            <a:extLst>
              <a:ext uri="{FF2B5EF4-FFF2-40B4-BE49-F238E27FC236}">
                <a16:creationId xmlns:a16="http://schemas.microsoft.com/office/drawing/2014/main" id="{58104626-8F66-9575-5E49-2907EACF11C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tretch/>
        </p:blipFill>
        <p:spPr>
          <a:xfrm>
            <a:off x="6203952" y="1499592"/>
            <a:ext cx="5437187" cy="3860403"/>
          </a:xfrm>
          <a:custGeom>
            <a:avLst/>
            <a:gdLst/>
            <a:ahLst/>
            <a:cxnLst/>
            <a:rect l="l" t="t" r="r" b="b"/>
            <a:pathLst>
              <a:path w="5437187" h="5761037">
                <a:moveTo>
                  <a:pt x="0" y="0"/>
                </a:moveTo>
                <a:lnTo>
                  <a:pt x="5437187" y="0"/>
                </a:lnTo>
                <a:lnTo>
                  <a:pt x="5437187" y="5761037"/>
                </a:lnTo>
                <a:lnTo>
                  <a:pt x="0" y="5761037"/>
                </a:lnTo>
                <a:close/>
              </a:path>
            </a:pathLst>
          </a:custGeom>
          <a:solidFill>
            <a:schemeClr val="accent5"/>
          </a:solidFill>
        </p:spPr>
      </p:pic>
    </p:spTree>
    <p:extLst>
      <p:ext uri="{BB962C8B-B14F-4D97-AF65-F5344CB8AC3E}">
        <p14:creationId xmlns:p14="http://schemas.microsoft.com/office/powerpoint/2010/main" val="1388592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0B7752B-728D-4CA3-8923-C4F7F7702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72343A-9CB0-F2AD-EF62-5DEE3E97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3565525" cy="5543549"/>
          </a:xfrm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800"/>
              <a:t>Technology Value Stream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9899A3-416E-4DB5-846D-023526052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0899" y="0"/>
            <a:ext cx="7641102" cy="6858000"/>
          </a:xfrm>
          <a:prstGeom prst="rect">
            <a:avLst/>
          </a:prstGeom>
          <a:solidFill>
            <a:schemeClr val="bg2">
              <a:lumMod val="10000"/>
              <a:lumOff val="9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FEBD19-8BEF-5334-925A-2C613787E5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0251647"/>
              </p:ext>
            </p:extLst>
          </p:nvPr>
        </p:nvGraphicFramePr>
        <p:xfrm>
          <a:off x="5267325" y="549275"/>
          <a:ext cx="6373814" cy="575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A84D4AF-8D29-5A55-F3F8-1E928E3B0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580363"/>
            <a:ext cx="6379210" cy="1333057"/>
          </a:xfrm>
        </p:spPr>
        <p:txBody>
          <a:bodyPr vert="horz" wrap="square" lIns="0" tIns="0" rIns="0" bIns="0" rtlCol="0" anchor="t" anchorCtr="0">
            <a:normAutofit/>
          </a:bodyPr>
          <a:lstStyle/>
          <a:p>
            <a:pPr algn="l"/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Lead Time vs. Processing Time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B425BBD-042F-4CF8-A9EE-42CC14D25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60575" y="5492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Placeholder 7" descr="A diagram of a lead time&#10;&#10;AI-generated content may be incorrect.">
            <a:extLst>
              <a:ext uri="{FF2B5EF4-FFF2-40B4-BE49-F238E27FC236}">
                <a16:creationId xmlns:a16="http://schemas.microsoft.com/office/drawing/2014/main" id="{1358CD3B-43A8-5BF7-2E60-B0563F068D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6682" r="7394" b="-2"/>
          <a:stretch>
            <a:fillRect/>
          </a:stretch>
        </p:blipFill>
        <p:spPr>
          <a:xfrm>
            <a:off x="550863" y="2530474"/>
            <a:ext cx="5773738" cy="3779838"/>
          </a:xfrm>
          <a:custGeom>
            <a:avLst/>
            <a:gdLst/>
            <a:ahLst/>
            <a:cxnLst/>
            <a:rect l="l" t="t" r="r" b="b"/>
            <a:pathLst>
              <a:path w="5773738" h="3779838">
                <a:moveTo>
                  <a:pt x="0" y="0"/>
                </a:moveTo>
                <a:lnTo>
                  <a:pt x="5773738" y="0"/>
                </a:lnTo>
                <a:lnTo>
                  <a:pt x="5773738" y="3779838"/>
                </a:lnTo>
                <a:lnTo>
                  <a:pt x="0" y="3779838"/>
                </a:lnTo>
                <a:close/>
              </a:path>
            </a:pathLst>
          </a:cu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F8ED97E8-4320-4F9F-8AB2-2EC6D9FC9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0191" y="1665774"/>
            <a:ext cx="1262947" cy="1335600"/>
            <a:chOff x="2678417" y="2427951"/>
            <a:chExt cx="1262947" cy="1335600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DAE1E3F-711D-4F2E-AF4B-0A3CF77C5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717A35D9-9F09-4A9F-AD47-CF2115100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" name="Subtitle 7">
            <a:extLst>
              <a:ext uri="{FF2B5EF4-FFF2-40B4-BE49-F238E27FC236}">
                <a16:creationId xmlns:a16="http://schemas.microsoft.com/office/drawing/2014/main" id="{6450744F-A4B6-FD90-F6DA-4EF9A192E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0575" y="1520825"/>
            <a:ext cx="4500562" cy="2808288"/>
          </a:xfrm>
        </p:spPr>
        <p:txBody>
          <a:bodyPr vert="horz" wrap="square" lIns="0" tIns="0" rIns="0" bIns="0" rtlCol="0" anchor="t">
            <a:normAutofit/>
          </a:bodyPr>
          <a:lstStyle/>
          <a:p>
            <a:pPr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60000"/>
                  </a:schemeClr>
                </a:solidFill>
              </a:rPr>
              <a:t>Lead Time: The total time from the start of a process to its completion. </a:t>
            </a:r>
          </a:p>
          <a:p>
            <a:pPr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60000"/>
                  </a:schemeClr>
                </a:solidFill>
              </a:rPr>
              <a:t>This can include wait times, approvals, and handoffs. </a:t>
            </a:r>
          </a:p>
          <a:p>
            <a:pPr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60000"/>
                  </a:schemeClr>
                </a:solidFill>
              </a:rPr>
              <a:t>Processing Time: The time spent performing the work. </a:t>
            </a:r>
          </a:p>
          <a:p>
            <a:pPr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60000"/>
                  </a:schemeClr>
                </a:solidFill>
              </a:rPr>
              <a:t>This can be coding, testing, and deploying.</a:t>
            </a:r>
          </a:p>
          <a:p>
            <a:pPr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700">
              <a:solidFill>
                <a:schemeClr val="tx1">
                  <a:alpha val="60000"/>
                </a:schemeClr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F071BFC-FCD5-404E-90E6-D596557747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724513" y="5071998"/>
            <a:ext cx="1980000" cy="1336764"/>
            <a:chOff x="7285270" y="3781428"/>
            <a:chExt cx="1980000" cy="1336764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BA0B934F-9437-4904-A573-FD6F8B81F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>
              <a:off x="7285270" y="3781428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54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0204A86-ED4C-4DD3-9013-C7A4EFF920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>
              <a:off x="7351895" y="3784117"/>
              <a:ext cx="1853969" cy="1042921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69EEA625-9D71-403F-B693-78E333447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7997401" y="4831348"/>
              <a:ext cx="107098" cy="4665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254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25D8F7F-021F-459C-87EB-5AF697DC3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8978427" y="3850321"/>
              <a:ext cx="107098" cy="4665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254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5514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6CC09F-7383-3A4C-555C-35DA0BB4B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1412" y="549275"/>
            <a:ext cx="5437185" cy="1997855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 dirty="0"/>
              <a:t>Long Deployment Lead Times Common Scenario:</a:t>
            </a:r>
          </a:p>
        </p:txBody>
      </p:sp>
      <p:pic>
        <p:nvPicPr>
          <p:cNvPr id="2" name="Content Placeholder 1" descr="A diagram of components and components&#10;&#10;AI-generated content may be incorrect.">
            <a:extLst>
              <a:ext uri="{FF2B5EF4-FFF2-40B4-BE49-F238E27FC236}">
                <a16:creationId xmlns:a16="http://schemas.microsoft.com/office/drawing/2014/main" id="{A6491D53-FCD3-843F-18E1-2FBEC83BC421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3"/>
          <a:stretch>
            <a:fillRect/>
          </a:stretch>
        </p:blipFill>
        <p:spPr>
          <a:xfrm>
            <a:off x="553403" y="1035731"/>
            <a:ext cx="5092062" cy="4786537"/>
          </a:xfrm>
          <a:custGeom>
            <a:avLst/>
            <a:gdLst/>
            <a:ahLst/>
            <a:cxnLst/>
            <a:rect l="l" t="t" r="r" b="b"/>
            <a:pathLst>
              <a:path w="5092062" h="5759450">
                <a:moveTo>
                  <a:pt x="0" y="0"/>
                </a:moveTo>
                <a:lnTo>
                  <a:pt x="5092062" y="0"/>
                </a:lnTo>
                <a:lnTo>
                  <a:pt x="5092062" y="5759450"/>
                </a:lnTo>
                <a:lnTo>
                  <a:pt x="0" y="5759450"/>
                </a:lnTo>
                <a:close/>
              </a:path>
            </a:pathLst>
          </a:cu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E7E655-DBBE-1E38-D543-EB34028F2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410" y="2677306"/>
            <a:ext cx="5437187" cy="3415519"/>
          </a:xfrm>
        </p:spPr>
        <p:txBody>
          <a:bodyPr vert="horz" wrap="square" lIns="0" tIns="0" rIns="0" bIns="0" rtlCol="0" anchor="t">
            <a:normAutofit/>
          </a:bodyPr>
          <a:lstStyle/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alpha val="60000"/>
                  </a:schemeClr>
                </a:solidFill>
              </a:rPr>
              <a:t>Long deployment lead times, can be caused by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alpha val="60000"/>
                  </a:schemeClr>
                </a:solidFill>
              </a:rPr>
              <a:t>Scarce integration test environments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alpha val="60000"/>
                  </a:schemeClr>
                </a:solidFill>
              </a:rPr>
              <a:t>Manual testing and deployment 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alpha val="60000"/>
                  </a:schemeClr>
                </a:solidFill>
              </a:rPr>
              <a:t>Poor communication and collaboration 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alpha val="60000"/>
                  </a:schemeClr>
                </a:solidFill>
              </a:rPr>
              <a:t>Long test and production environments</a:t>
            </a:r>
          </a:p>
          <a:p>
            <a:pPr indent="-228600">
              <a:lnSpc>
                <a:spcPct val="100000"/>
              </a:lnSpc>
              <a:buChar char="•"/>
            </a:pPr>
            <a:r>
              <a:rPr lang="en-US" sz="1700" dirty="0">
                <a:solidFill>
                  <a:schemeClr val="tx1">
                    <a:alpha val="60000"/>
                  </a:schemeClr>
                </a:solidFill>
              </a:rPr>
              <a:t>Deployment lead times can stretch to months or quarters </a:t>
            </a:r>
          </a:p>
        </p:txBody>
      </p:sp>
    </p:spTree>
    <p:extLst>
      <p:ext uri="{BB962C8B-B14F-4D97-AF65-F5344CB8AC3E}">
        <p14:creationId xmlns:p14="http://schemas.microsoft.com/office/powerpoint/2010/main" val="233018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6CC09F-7383-3A4C-555C-35DA0BB4B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DevOps Goal:</a:t>
            </a:r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3BDDE579-B484-0469-B96E-8E93A1698CB2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50862" y="2097175"/>
          <a:ext cx="5435600" cy="3995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" name="Content Placeholder 1" descr="A diagram of a devops goals&#10;&#10;AI-generated content may be incorrect.">
            <a:extLst>
              <a:ext uri="{FF2B5EF4-FFF2-40B4-BE49-F238E27FC236}">
                <a16:creationId xmlns:a16="http://schemas.microsoft.com/office/drawing/2014/main" id="{E920DAB5-11A5-B995-0271-86E78B0AB4FC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7"/>
          <a:stretch>
            <a:fillRect/>
          </a:stretch>
        </p:blipFill>
        <p:spPr>
          <a:xfrm>
            <a:off x="6280153" y="2142375"/>
            <a:ext cx="5286375" cy="3905250"/>
          </a:xfrm>
        </p:spPr>
      </p:pic>
    </p:spTree>
    <p:extLst>
      <p:ext uri="{BB962C8B-B14F-4D97-AF65-F5344CB8AC3E}">
        <p14:creationId xmlns:p14="http://schemas.microsoft.com/office/powerpoint/2010/main" val="3353460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06B59-80B8-CEED-0BCA-BC3F80A85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3C2F317-81E4-3678-2FF2-495B3A95470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A7C6D33A-37B7-D2C4-2C1C-6D5253D0D480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8145A95-72C3-9BFC-32D2-908F235E389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b"/>
          <a:lstStyle/>
          <a:p>
            <a:r>
              <a:rPr lang="en-US" dirty="0"/>
              <a:t>Benefits of The Technology Value Stream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/>
              <a:t>Higher customer satisfaction </a:t>
            </a:r>
            <a:endParaRPr lang="en-US" dirty="0"/>
          </a:p>
          <a:p>
            <a:pPr marL="285750" indent="-285750">
              <a:buChar char="•"/>
            </a:pPr>
            <a:r>
              <a:rPr lang="en-US" dirty="0"/>
              <a:t>Fewer rollbacks </a:t>
            </a:r>
          </a:p>
          <a:p>
            <a:pPr marL="285750" indent="-285750">
              <a:buChar char="•"/>
            </a:pPr>
            <a:r>
              <a:rPr lang="en-US" dirty="0"/>
              <a:t>Faster </a:t>
            </a:r>
            <a:r>
              <a:rPr lang="en-US"/>
              <a:t>delivery</a:t>
            </a:r>
            <a:endParaRPr lang="en-US" dirty="0"/>
          </a:p>
          <a:p>
            <a:pPr marL="285750" indent="-285750">
              <a:buChar char="•"/>
            </a:pPr>
            <a:r>
              <a:rPr lang="en-US"/>
              <a:t>Increase productivity and team morale </a:t>
            </a:r>
          </a:p>
          <a:p>
            <a:pPr marL="285750" indent="-285750">
              <a:buChar char="•"/>
            </a:pPr>
            <a:r>
              <a:rPr lang="en-US"/>
              <a:t>Reduced costs</a:t>
            </a:r>
          </a:p>
          <a:p>
            <a:endParaRPr lang="en-US" dirty="0"/>
          </a:p>
        </p:txBody>
      </p:sp>
      <p:pic>
        <p:nvPicPr>
          <p:cNvPr id="20" name="Picture Placeholder 19" descr="A close-up of a graph">
            <a:extLst>
              <a:ext uri="{FF2B5EF4-FFF2-40B4-BE49-F238E27FC236}">
                <a16:creationId xmlns:a16="http://schemas.microsoft.com/office/drawing/2014/main" id="{A7019768-5E2A-F9D1-62D6-EC7C5F0BBE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/>
        </p:blipFill>
        <p:spPr/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5C4A7DC2-42C3-FDDF-02BF-9598D75A6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23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roup 147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 useBgFill="1">
        <p:nvSpPr>
          <p:cNvPr id="149" name="Rectangle 148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5524" cy="1997855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2678400"/>
            <a:ext cx="3565525" cy="3414425"/>
          </a:xfrm>
        </p:spPr>
        <p:txBody>
          <a:bodyPr vert="horz" wrap="square" lIns="0" tIns="0" rIns="0" bIns="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>
                    <a:alpha val="60000"/>
                  </a:schemeClr>
                </a:solidFill>
              </a:rPr>
              <a:t>The Technology Value System is crucial for delivering value efficiently.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>
                    <a:alpha val="60000"/>
                  </a:schemeClr>
                </a:solidFill>
              </a:rPr>
              <a:t>DevOps practices can make long manual processes faster. 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>
                    <a:alpha val="60000"/>
                  </a:schemeClr>
                </a:solidFill>
              </a:rPr>
              <a:t>Businesses and organizations can reduce lead time and optimize the value stream as a strategic advantage. 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600">
              <a:solidFill>
                <a:schemeClr val="tx1">
                  <a:alpha val="60000"/>
                </a:schemeClr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sz="1600">
              <a:solidFill>
                <a:schemeClr val="tx1">
                  <a:alpha val="60000"/>
                </a:schemeClr>
              </a:solidFill>
            </a:endParaRPr>
          </a:p>
        </p:txBody>
      </p:sp>
      <p:pic>
        <p:nvPicPr>
          <p:cNvPr id="6" name="Picture 5" descr="A close-up of a network">
            <a:extLst>
              <a:ext uri="{FF2B5EF4-FFF2-40B4-BE49-F238E27FC236}">
                <a16:creationId xmlns:a16="http://schemas.microsoft.com/office/drawing/2014/main" id="{9A5E0998-2FFB-719F-1C5B-3A90AAA536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2248"/>
          <a:stretch>
            <a:fillRect/>
          </a:stretch>
        </p:blipFill>
        <p:spPr>
          <a:xfrm>
            <a:off x="5588000" y="862806"/>
            <a:ext cx="5132388" cy="5132388"/>
          </a:xfrm>
          <a:custGeom>
            <a:avLst/>
            <a:gdLst/>
            <a:ahLst/>
            <a:cxnLst/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</p:spPr>
      </p:pic>
      <p:grpSp>
        <p:nvGrpSpPr>
          <p:cNvPr id="150" name="Group 149">
            <a:extLst>
              <a:ext uri="{FF2B5EF4-FFF2-40B4-BE49-F238E27FC236}">
                <a16:creationId xmlns:a16="http://schemas.microsoft.com/office/drawing/2014/main" id="{183B29DA-9BB8-4BA8-B8E1-8C2B54407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143" name="Freeform 5">
              <a:extLst>
                <a:ext uri="{FF2B5EF4-FFF2-40B4-BE49-F238E27FC236}">
                  <a16:creationId xmlns:a16="http://schemas.microsoft.com/office/drawing/2014/main" id="{D02496F8-166D-469A-8040-08608013BF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4" name="Freeform 6">
              <a:extLst>
                <a:ext uri="{FF2B5EF4-FFF2-40B4-BE49-F238E27FC236}">
                  <a16:creationId xmlns:a16="http://schemas.microsoft.com/office/drawing/2014/main" id="{23E648A7-A02A-4DC7-9FEC-489F1BA6F7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5" name="Freeform 8">
              <a:extLst>
                <a:ext uri="{FF2B5EF4-FFF2-40B4-BE49-F238E27FC236}">
                  <a16:creationId xmlns:a16="http://schemas.microsoft.com/office/drawing/2014/main" id="{4EF573B1-38BC-4C7B-894C-BE3864A04A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47" name="Oval 146">
            <a:extLst>
              <a:ext uri="{FF2B5EF4-FFF2-40B4-BE49-F238E27FC236}">
                <a16:creationId xmlns:a16="http://schemas.microsoft.com/office/drawing/2014/main" id="{647A77D8-817B-4A9F-86AA-FE781E813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40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80363"/>
            <a:ext cx="5437188" cy="1997855"/>
          </a:xfrm>
        </p:spPr>
        <p:txBody>
          <a:bodyPr vert="horz" wrap="square" lIns="0" tIns="0" rIns="0" bIns="0" rtlCol="0" anchor="t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800"/>
              <a:t>References: 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959C3E7-D59B-44C4-9BBD-3BC2A41A0C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151" y="3295640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654876B-FB01-4E58-9C9F-3D510011B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22329" y="4018501"/>
            <a:ext cx="1468514" cy="1521012"/>
            <a:chOff x="8926879" y="88028"/>
            <a:chExt cx="1468514" cy="1521012"/>
          </a:xfrm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6EE14B10-2C91-4CF8-ABB6-7E21AA98C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9153221" y="88028"/>
              <a:ext cx="1242172" cy="729202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4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5A93B35E-1AB2-4CCC-91AC-122E57A18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8926879" y="221946"/>
              <a:ext cx="611884" cy="1076550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4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E9951197-11BD-489A-BF2C-E542541ABC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9455555" y="532490"/>
              <a:ext cx="630288" cy="1076550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40000"/>
                    <a:lumOff val="60000"/>
                    <a:alpha val="6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508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0575" y="1520825"/>
            <a:ext cx="4500562" cy="4572000"/>
          </a:xfrm>
        </p:spPr>
        <p:txBody>
          <a:bodyPr vert="horz" wrap="square" lIns="0" tIns="0" rIns="0" bIns="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alpha val="60000"/>
                  </a:schemeClr>
                </a:solidFill>
              </a:rPr>
              <a:t>Kim, G., Humble, J., Debois, P., &amp; Willis, J. (2021). </a:t>
            </a:r>
            <a:r>
              <a:rPr lang="en-US" i="1" dirty="0">
                <a:solidFill>
                  <a:schemeClr val="tx1">
                    <a:alpha val="60000"/>
                  </a:schemeClr>
                </a:solidFill>
              </a:rPr>
              <a:t>The DevOps Handbook</a:t>
            </a:r>
            <a:r>
              <a:rPr lang="en-US" dirty="0">
                <a:solidFill>
                  <a:schemeClr val="tx1">
                    <a:alpha val="60000"/>
                  </a:schemeClr>
                </a:solidFill>
              </a:rPr>
              <a:t> (2nd ed.). IT Revolution. 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(2023, February 6). </a:t>
            </a:r>
            <a:r>
              <a:rPr lang="en-US" i="1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Value Stream Management</a:t>
            </a:r>
            <a:r>
              <a:rPr lang="en-US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. TechTarget. </a:t>
            </a:r>
            <a:r>
              <a:rPr lang="en-US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https://www.techtarget.com/searchcio/definition/value-stream-management</a:t>
            </a:r>
            <a:r>
              <a:rPr lang="en-US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 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(2024, October 6). </a:t>
            </a:r>
            <a:r>
              <a:rPr lang="en-US" i="1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Lead Time vs. Cycle Time: What’s the Difference?</a:t>
            </a:r>
            <a:r>
              <a:rPr lang="en-US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ISIXSIGMA. https://www.isixsigma.com/methodology/lead-time-vs-cycle-time-whats-the-difference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  <a:p>
            <a:pPr marL="571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12529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>
              <a:solidFill>
                <a:srgbClr val="FFFFFF">
                  <a:alpha val="60000"/>
                </a:srgbClr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>
              <a:solidFill>
                <a:srgbClr val="FFFFFF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7630249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3DFloatVTI</Template>
  <TotalTime>0</TotalTime>
  <Words>416</Words>
  <Application>Microsoft Office PowerPoint</Application>
  <PresentationFormat>Widescreen</PresentationFormat>
  <Paragraphs>117</Paragraphs>
  <Slides>11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3DFloatVTI</vt:lpstr>
      <vt:lpstr>The Technology Value Stream   Carmen Mendoza CSD380   </vt:lpstr>
      <vt:lpstr>Objective </vt:lpstr>
      <vt:lpstr>What is the Technology Value Stream?</vt:lpstr>
      <vt:lpstr>Technology Value Stream</vt:lpstr>
      <vt:lpstr>Technology Value Stream</vt:lpstr>
      <vt:lpstr>Lead Time vs. Processing Time</vt:lpstr>
      <vt:lpstr>Long Deployment Lead Times Common Scenario:</vt:lpstr>
      <vt:lpstr>DevOps Goal:</vt:lpstr>
      <vt:lpstr>Benefits of The Technology Value Stream</vt:lpstr>
      <vt:lpstr>Conclusion</vt:lpstr>
      <vt:lpstr>References: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316</cp:revision>
  <dcterms:created xsi:type="dcterms:W3CDTF">2025-05-31T00:46:06Z</dcterms:created>
  <dcterms:modified xsi:type="dcterms:W3CDTF">2025-05-31T03:04:55Z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